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VLT as a structure-first asset: fixed supply, meaningful liquidity, and ecosystem accumulation. Avoid price promises.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contrast VLT against common token weaknesses: inflation, liquidity pull risk, and hype-dependence.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overstate liquidity or price. Keep it factual: market cap, price, max supply, and volume from CoinGecko.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flywheel slowly. The important point is not guaranteed appreciation; it is that the system has a structure where activity can improve the market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investor point: early from an awareness standpoint, not early from a build standpoint.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powerful but must be framed carefully. Say: This is not a forecast — it is a market cap sensitivity table. The numbers are simply how market cap translates into position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message: we are not trying to create a pump. We are trying to create visibility and consistent activity around a structure that already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structure and risk tolerance. Do not tell people what to do. Invite them to look at the onchain data and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LT_MASTER">
    <p:bg>
      <p:bgPr>
        <a:solidFill>
          <a:srgbClr val="1908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0819"/>
          </a:solidFill>
          <a:ln w="12700">
            <a:solidFill>
              <a:srgbClr val="1908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0819"/>
          </a:solidFill>
          <a:ln w="12700">
            <a:solidFill>
              <a:srgbClr val="190819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51217">
              <a:alpha val="98000"/>
            </a:srgbClr>
          </a:solidFill>
          <a:ln w="12700">
            <a:solidFill>
              <a:srgbClr val="15121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bankroll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VLT</a:t>
            </a:r>
            <a:endParaRPr lang="en-US" sz="1100" dirty="0"/>
          </a:p>
        </p:txBody>
      </p:sp>
      <p:pic>
        <p:nvPicPr>
          <p:cNvPr id="5" name="Image 0" descr="/mnt/data/c0d65bb6-deeb-4638-83e5-25df0916f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298448"/>
            <a:ext cx="329184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" y="1133856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EDE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Vault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04672" y="20391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Bankroll Vault (VLT)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24871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B7E6"/>
                </a:solidFill>
              </a:rPr>
              <a:t>A liquidity-backed digital asset on Ethereum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3063240"/>
            <a:ext cx="1965960" cy="347472"/>
          </a:xfrm>
          <a:prstGeom prst="roundRect">
            <a:avLst>
              <a:gd name="adj" fmla="val 21053"/>
            </a:avLst>
          </a:prstGeom>
          <a:solidFill>
            <a:srgbClr val="8A3A87">
              <a:alpha val="95000"/>
            </a:srgbClr>
          </a:solidFill>
          <a:ln w="12700">
            <a:solidFill>
              <a:srgbClr val="B35AAE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3154680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Fixed supply: 1.8M VLT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926080" y="30632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8A3A87">
              <a:alpha val="95000"/>
            </a:srgbClr>
          </a:solidFill>
          <a:ln w="12700">
            <a:solidFill>
              <a:srgbClr val="B35AAE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35808" y="315468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Uniswap market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26280" y="306324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8A3A87">
              <a:alpha val="95000"/>
            </a:srgbClr>
          </a:solidFill>
          <a:ln w="12700">
            <a:solidFill>
              <a:srgbClr val="B35AAE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36008" y="3154680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Ecosystem accumulation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22960" y="3913632"/>
            <a:ext cx="5303520" cy="0"/>
          </a:xfrm>
          <a:prstGeom prst="line">
            <a:avLst/>
          </a:prstGeom>
          <a:noFill/>
          <a:ln w="17780">
            <a:solidFill>
              <a:srgbClr val="8A3A87">
                <a:alpha val="9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16052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base is already built. The awareness is still early.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41248" y="471830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A4C7"/>
                </a:solidFill>
              </a:rPr>
              <a:t>Prepared for investor discussion • Data snapshot: May 11, 2026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" y="65379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47DA4"/>
                </a:solidFill>
              </a:rPr>
              <a:t>Bankroll Vault (VLT) • Ethereum • Investor discussion — not financial advice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47DA4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D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51217">
              <a:alpha val="98000"/>
            </a:srgbClr>
          </a:solidFill>
          <a:ln w="12700">
            <a:solidFill>
              <a:srgbClr val="15121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bankroll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tokens are built on weak foundations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29844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9B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market is crowded with assets that need constant hype just to stay alive.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1874520"/>
            <a:ext cx="3886200" cy="960120"/>
          </a:xfrm>
          <a:prstGeom prst="roundRect">
            <a:avLst>
              <a:gd name="adj" fmla="val 13333"/>
            </a:avLst>
          </a:prstGeom>
          <a:solidFill>
            <a:srgbClr val="281329"/>
          </a:solidFill>
          <a:ln w="12700">
            <a:solidFill>
              <a:srgbClr val="7A3778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391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Inflation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9B7E6"/>
                </a:solidFill>
              </a:rPr>
              <a:t>New tokens dilute existing holders.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4974336" y="1874520"/>
            <a:ext cx="3886200" cy="960120"/>
          </a:xfrm>
          <a:prstGeom prst="roundRect">
            <a:avLst>
              <a:gd name="adj" fmla="val 13333"/>
            </a:avLst>
          </a:prstGeom>
          <a:solidFill>
            <a:srgbClr val="281329"/>
          </a:solidFill>
          <a:ln w="12700">
            <a:solidFill>
              <a:srgbClr val="7A3778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20391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Weak liquidity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138928" y="23774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9B7E6"/>
                </a:solidFill>
              </a:rPr>
              <a:t>Markets look active until liquidity disappears.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658368" y="3136392"/>
            <a:ext cx="3886200" cy="960120"/>
          </a:xfrm>
          <a:prstGeom prst="roundRect">
            <a:avLst>
              <a:gd name="adj" fmla="val 13333"/>
            </a:avLst>
          </a:prstGeom>
          <a:solidFill>
            <a:srgbClr val="281329"/>
          </a:solidFill>
          <a:ln w="12700">
            <a:solidFill>
              <a:srgbClr val="7A3778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009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Short-term holders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36393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9B7E6"/>
                </a:solidFill>
              </a:rPr>
              <a:t>Early buyers exit before long-term value forms.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4974336" y="3136392"/>
            <a:ext cx="3886200" cy="960120"/>
          </a:xfrm>
          <a:prstGeom prst="roundRect">
            <a:avLst>
              <a:gd name="adj" fmla="val 13333"/>
            </a:avLst>
          </a:prstGeom>
          <a:solidFill>
            <a:srgbClr val="281329"/>
          </a:solidFill>
          <a:ln w="12700">
            <a:solidFill>
              <a:srgbClr val="7A3778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33009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No real structure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38928" y="36393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9B7E6"/>
                </a:solidFill>
              </a:rPr>
              <a:t>Nothing supports confidence when attention fades.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658368" y="4956048"/>
            <a:ext cx="8092440" cy="621792"/>
          </a:xfrm>
          <a:prstGeom prst="roundRect">
            <a:avLst>
              <a:gd name="adj" fmla="val 17647"/>
            </a:avLst>
          </a:prstGeom>
          <a:solidFill>
            <a:srgbClr val="3A173B"/>
          </a:solidFill>
          <a:ln w="12700">
            <a:solidFill>
              <a:srgbClr val="B35AAE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5138928"/>
            <a:ext cx="7543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The opportunity is not just finding a token — it is finding a better structure before the crowd notices.</a:t>
            </a:r>
            <a:endParaRPr lang="en-US" sz="1280" dirty="0"/>
          </a:p>
        </p:txBody>
      </p:sp>
      <p:pic>
        <p:nvPicPr>
          <p:cNvPr id="21" name="Image 0" descr="/mnt/data/c0d65bb6-deeb-4638-83e5-25df0916fe22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9464040" y="2011680"/>
            <a:ext cx="1664208" cy="166420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94360" y="65379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47DA4"/>
                </a:solidFill>
              </a:rPr>
              <a:t>Bankroll Vault (VLT) • Ethereum • Investor discussion — not financial advice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47DA4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51217">
              <a:alpha val="98000"/>
            </a:srgbClr>
          </a:solidFill>
          <a:ln w="12700">
            <a:solidFill>
              <a:srgbClr val="15121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bankroll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snapshot: small cap, real structure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29844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9B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market data shows VLT is still early by market cap while already having an established onchain market.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1856232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2A132C"/>
          </a:solidFill>
          <a:ln w="12700">
            <a:solidFill>
              <a:srgbClr val="8C488B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20824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Market cap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04672" y="2450592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9B7E6"/>
                </a:solidFill>
              </a:rPr>
              <a:t>$397,627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218688" y="1856232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2A132C"/>
          </a:solidFill>
          <a:ln w="12700">
            <a:solidFill>
              <a:srgbClr val="8C488B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2020824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Approx. VLT price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64992" y="2450592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9B7E6"/>
                </a:solidFill>
              </a:rPr>
              <a:t>$0.2209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779008" y="1856232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2A132C"/>
          </a:solidFill>
          <a:ln w="12700">
            <a:solidFill>
              <a:srgbClr val="8C488B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25312" y="2020824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Max supply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925312" y="2450592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9B7E6"/>
                </a:solidFill>
              </a:rPr>
              <a:t>1.8M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339328" y="1856232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2A132C"/>
          </a:solidFill>
          <a:ln w="12700">
            <a:solidFill>
              <a:srgbClr val="8C488B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2020824"/>
            <a:ext cx="2039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24h volume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85632" y="2450592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9B7E6"/>
                </a:solidFill>
              </a:rPr>
              <a:t>$178K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58368" y="3337560"/>
            <a:ext cx="10012680" cy="1389888"/>
          </a:xfrm>
          <a:prstGeom prst="roundRect">
            <a:avLst>
              <a:gd name="adj" fmla="val 10526"/>
            </a:avLst>
          </a:prstGeom>
          <a:solidFill>
            <a:srgbClr val="2D102F"/>
          </a:solidFill>
          <a:ln w="13970">
            <a:solidFill>
              <a:srgbClr val="8A3A87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661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matters here: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393192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9B7E6"/>
                </a:solidFill>
              </a:rPr>
              <a:t>VLT is not a new idea looking for a market. It is an existing Ethereum asset with a live Uniswap market, fixed supply, and an ecosystem that already accumulates the token.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85800" y="516636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7E9E"/>
                </a:solidFill>
              </a:rPr>
              <a:t>Source: CoinGecko live data, accessed May 11, 2026. Market data changes continuously.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4360" y="65379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47DA4"/>
                </a:solidFill>
              </a:rPr>
              <a:t>Bankroll Vault (VLT) • Ethereum • Investor discussion — not financial advice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47DA4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51217">
              <a:alpha val="98000"/>
            </a:srgbClr>
          </a:solidFill>
          <a:ln w="12700">
            <a:solidFill>
              <a:srgbClr val="15121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bankroll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VLT is built around a self-reinforcing loop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29844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9B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thesis is simple: more activity strengthens the base behind the asset.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2648" y="1892808"/>
            <a:ext cx="1901952" cy="1828800"/>
          </a:xfrm>
          <a:prstGeom prst="roundRect">
            <a:avLst>
              <a:gd name="adj" fmla="val 8000"/>
            </a:avLst>
          </a:prstGeom>
          <a:solidFill>
            <a:srgbClr val="2A132C"/>
          </a:solidFill>
          <a:ln w="12700">
            <a:solidFill>
              <a:srgbClr val="8A3A87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2066544"/>
            <a:ext cx="329184" cy="329184"/>
          </a:xfrm>
          <a:prstGeom prst="ellipse">
            <a:avLst/>
          </a:prstGeom>
          <a:solidFill>
            <a:srgbClr val="B35AAE"/>
          </a:solidFill>
          <a:ln w="12700">
            <a:solidFill>
              <a:srgbClr val="B35A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3252" y="2144268"/>
            <a:ext cx="118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68096" y="2560320"/>
            <a:ext cx="1572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FFFFF"/>
                </a:solidFill>
              </a:rPr>
              <a:t>Trades happen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768096" y="29535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9B7E6"/>
                </a:solidFill>
              </a:rPr>
              <a:t>Buyers and sellers interact on Uniswap.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542032" y="2606040"/>
            <a:ext cx="228600" cy="329184"/>
          </a:xfrm>
          <a:prstGeom prst="chevron">
            <a:avLst/>
          </a:prstGeom>
          <a:solidFill>
            <a:srgbClr val="9B5299"/>
          </a:solidFill>
          <a:ln w="12700">
            <a:solidFill>
              <a:srgbClr val="9B52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52928" y="1892808"/>
            <a:ext cx="1901952" cy="1828800"/>
          </a:xfrm>
          <a:prstGeom prst="roundRect">
            <a:avLst>
              <a:gd name="adj" fmla="val 8000"/>
            </a:avLst>
          </a:prstGeom>
          <a:solidFill>
            <a:srgbClr val="341235"/>
          </a:solidFill>
          <a:ln w="12700">
            <a:solidFill>
              <a:srgbClr val="8A3A87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08376" y="2066544"/>
            <a:ext cx="329184" cy="329184"/>
          </a:xfrm>
          <a:prstGeom prst="ellipse">
            <a:avLst/>
          </a:prstGeom>
          <a:solidFill>
            <a:srgbClr val="B35AAE"/>
          </a:solidFill>
          <a:ln w="12700">
            <a:solidFill>
              <a:srgbClr val="B35A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13532" y="2144268"/>
            <a:ext cx="118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008376" y="2560320"/>
            <a:ext cx="1572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FFFFF"/>
                </a:solidFill>
              </a:rPr>
              <a:t>Fees are generated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3008376" y="29535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9B7E6"/>
                </a:solidFill>
              </a:rPr>
              <a:t>Activity creates value inside the market.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4782312" y="2606040"/>
            <a:ext cx="228600" cy="329184"/>
          </a:xfrm>
          <a:prstGeom prst="chevron">
            <a:avLst/>
          </a:prstGeom>
          <a:solidFill>
            <a:srgbClr val="9B5299"/>
          </a:solidFill>
          <a:ln w="12700">
            <a:solidFill>
              <a:srgbClr val="9B52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3208" y="1892808"/>
            <a:ext cx="1901952" cy="1828800"/>
          </a:xfrm>
          <a:prstGeom prst="roundRect">
            <a:avLst>
              <a:gd name="adj" fmla="val 8000"/>
            </a:avLst>
          </a:prstGeom>
          <a:solidFill>
            <a:srgbClr val="2A132C"/>
          </a:solidFill>
          <a:ln w="12700">
            <a:solidFill>
              <a:srgbClr val="8A3A87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48656" y="2066544"/>
            <a:ext cx="329184" cy="329184"/>
          </a:xfrm>
          <a:prstGeom prst="ellipse">
            <a:avLst/>
          </a:prstGeom>
          <a:solidFill>
            <a:srgbClr val="B35AAE"/>
          </a:solidFill>
          <a:ln w="12700">
            <a:solidFill>
              <a:srgbClr val="B35A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53812" y="2144268"/>
            <a:ext cx="118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248656" y="2560320"/>
            <a:ext cx="1572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FFFFF"/>
                </a:solidFill>
              </a:rPr>
              <a:t>Liquidity deepens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5248656" y="29535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9B7E6"/>
                </a:solidFill>
              </a:rPr>
              <a:t>More depth can improve market quality.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7022592" y="2606040"/>
            <a:ext cx="228600" cy="329184"/>
          </a:xfrm>
          <a:prstGeom prst="chevron">
            <a:avLst/>
          </a:prstGeom>
          <a:solidFill>
            <a:srgbClr val="9B5299"/>
          </a:solidFill>
          <a:ln w="12700">
            <a:solidFill>
              <a:srgbClr val="9B52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33488" y="1892808"/>
            <a:ext cx="1901952" cy="1828800"/>
          </a:xfrm>
          <a:prstGeom prst="roundRect">
            <a:avLst>
              <a:gd name="adj" fmla="val 8000"/>
            </a:avLst>
          </a:prstGeom>
          <a:solidFill>
            <a:srgbClr val="341235"/>
          </a:solidFill>
          <a:ln w="12700">
            <a:solidFill>
              <a:srgbClr val="8A3A87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88936" y="2066544"/>
            <a:ext cx="329184" cy="329184"/>
          </a:xfrm>
          <a:prstGeom prst="ellipse">
            <a:avLst/>
          </a:prstGeom>
          <a:solidFill>
            <a:srgbClr val="B35AAE"/>
          </a:solidFill>
          <a:ln w="12700">
            <a:solidFill>
              <a:srgbClr val="B35A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94092" y="2144268"/>
            <a:ext cx="118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488936" y="2560320"/>
            <a:ext cx="1572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FFFFF"/>
                </a:solidFill>
              </a:rPr>
              <a:t>Ecosystem accumulates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7488936" y="29535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9B7E6"/>
                </a:solidFill>
              </a:rPr>
              <a:t>Contracts buy and hold VLT over time.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9262872" y="2606040"/>
            <a:ext cx="228600" cy="329184"/>
          </a:xfrm>
          <a:prstGeom prst="chevron">
            <a:avLst/>
          </a:prstGeom>
          <a:solidFill>
            <a:srgbClr val="9B5299"/>
          </a:solidFill>
          <a:ln w="12700">
            <a:solidFill>
              <a:srgbClr val="9B52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73768" y="1892808"/>
            <a:ext cx="1901952" cy="1828800"/>
          </a:xfrm>
          <a:prstGeom prst="roundRect">
            <a:avLst>
              <a:gd name="adj" fmla="val 8000"/>
            </a:avLst>
          </a:prstGeom>
          <a:solidFill>
            <a:srgbClr val="2A132C"/>
          </a:solidFill>
          <a:ln w="12700">
            <a:solidFill>
              <a:srgbClr val="8A3A87">
                <a:alpha val="7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29216" y="2066544"/>
            <a:ext cx="329184" cy="329184"/>
          </a:xfrm>
          <a:prstGeom prst="ellipse">
            <a:avLst/>
          </a:prstGeom>
          <a:solidFill>
            <a:srgbClr val="B35AAE"/>
          </a:solidFill>
          <a:ln w="12700">
            <a:solidFill>
              <a:srgbClr val="B35A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34372" y="2144268"/>
            <a:ext cx="118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729216" y="2560320"/>
            <a:ext cx="1572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FFFFF"/>
                </a:solidFill>
              </a:rPr>
              <a:t>Supply tightens</a:t>
            </a:r>
            <a:endParaRPr lang="en-US" sz="1440" dirty="0"/>
          </a:p>
        </p:txBody>
      </p:sp>
      <p:sp>
        <p:nvSpPr>
          <p:cNvPr id="35" name="Text 33"/>
          <p:cNvSpPr/>
          <p:nvPr/>
        </p:nvSpPr>
        <p:spPr>
          <a:xfrm>
            <a:off x="9729216" y="29535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9B7E6"/>
                </a:solidFill>
              </a:rPr>
              <a:t>Less available float can increase sensitivity to demand.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1225296" y="4709160"/>
            <a:ext cx="9765792" cy="658368"/>
          </a:xfrm>
          <a:prstGeom prst="roundRect">
            <a:avLst>
              <a:gd name="adj" fmla="val 20833"/>
            </a:avLst>
          </a:prstGeom>
          <a:solidFill>
            <a:srgbClr val="50174E"/>
          </a:solidFill>
          <a:ln w="12700">
            <a:solidFill>
              <a:srgbClr val="B35AAE">
                <a:alpha val="7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63040" y="4928616"/>
            <a:ext cx="9235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FFFFFF"/>
                </a:solidFill>
              </a:rPr>
              <a:t>More activity → stronger liquidity → tighter supply → higher attention</a:t>
            </a:r>
            <a:endParaRPr lang="en-US" sz="1620" dirty="0"/>
          </a:p>
        </p:txBody>
      </p:sp>
      <p:sp>
        <p:nvSpPr>
          <p:cNvPr id="38" name="Text 36"/>
          <p:cNvSpPr/>
          <p:nvPr/>
        </p:nvSpPr>
        <p:spPr>
          <a:xfrm>
            <a:off x="594360" y="65379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47DA4"/>
                </a:solidFill>
              </a:rPr>
              <a:t>Bankroll Vault (VLT) • Ethereum • Investor discussion — not financial advice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47DA4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51217">
              <a:alpha val="98000"/>
            </a:srgbClr>
          </a:solidFill>
          <a:ln w="12700">
            <a:solidFill>
              <a:srgbClr val="15121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bankroll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now: the structure exists before the attention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29844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9B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core reason the setup is interesting.</a:t>
            </a:r>
            <a:endParaRPr lang="en-US" sz="1450" dirty="0"/>
          </a:p>
        </p:txBody>
      </p:sp>
      <p:pic>
        <p:nvPicPr>
          <p:cNvPr id="7" name="Image 0" descr="/mnt/data/c0d65bb6-deeb-4638-83e5-25df0916fe22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7818120" y="1490472"/>
            <a:ext cx="274320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" y="1892808"/>
            <a:ext cx="5925312" cy="3328416"/>
          </a:xfrm>
          <a:prstGeom prst="roundRect">
            <a:avLst>
              <a:gd name="adj" fmla="val 4121"/>
            </a:avLst>
          </a:prstGeom>
          <a:solidFill>
            <a:srgbClr val="271228"/>
          </a:solidFill>
          <a:ln w="13970">
            <a:solidFill>
              <a:srgbClr val="8A3A87">
                <a:alpha val="8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72" y="2212848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Built already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033272" y="2779776"/>
            <a:ext cx="109728" cy="109728"/>
          </a:xfrm>
          <a:prstGeom prst="ellipse">
            <a:avLst/>
          </a:prstGeom>
          <a:solidFill>
            <a:srgbClr val="B35AAE"/>
          </a:solidFill>
          <a:ln w="12700">
            <a:solidFill>
              <a:srgbClr val="B35AA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43584" y="272491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9B7E6"/>
                </a:solidFill>
              </a:rPr>
              <a:t>Fixed supply: no dilution from new token printing</a:t>
            </a:r>
            <a:endParaRPr lang="en-US" sz="1210" dirty="0"/>
          </a:p>
        </p:txBody>
      </p:sp>
      <p:sp>
        <p:nvSpPr>
          <p:cNvPr id="12" name="Shape 9"/>
          <p:cNvSpPr/>
          <p:nvPr/>
        </p:nvSpPr>
        <p:spPr>
          <a:xfrm>
            <a:off x="1033272" y="3218688"/>
            <a:ext cx="109728" cy="109728"/>
          </a:xfrm>
          <a:prstGeom prst="ellipse">
            <a:avLst/>
          </a:prstGeom>
          <a:solidFill>
            <a:srgbClr val="B35AAE"/>
          </a:solidFill>
          <a:ln w="12700">
            <a:solidFill>
              <a:srgbClr val="B35AA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43584" y="3163824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9B7E6"/>
                </a:solidFill>
              </a:rPr>
              <a:t>Established Uniswap market already live</a:t>
            </a:r>
            <a:endParaRPr lang="en-US" sz="1210" dirty="0"/>
          </a:p>
        </p:txBody>
      </p:sp>
      <p:sp>
        <p:nvSpPr>
          <p:cNvPr id="14" name="Shape 11"/>
          <p:cNvSpPr/>
          <p:nvPr/>
        </p:nvSpPr>
        <p:spPr>
          <a:xfrm>
            <a:off x="1033272" y="3657600"/>
            <a:ext cx="109728" cy="109728"/>
          </a:xfrm>
          <a:prstGeom prst="ellipse">
            <a:avLst/>
          </a:prstGeom>
          <a:solidFill>
            <a:srgbClr val="B35AAE"/>
          </a:solidFill>
          <a:ln w="12700">
            <a:solidFill>
              <a:srgbClr val="B35AA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43584" y="360273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9B7E6"/>
                </a:solidFill>
              </a:rPr>
              <a:t>Ecosystem contracts buy and hold VLT</a:t>
            </a:r>
            <a:endParaRPr lang="en-US" sz="1210" dirty="0"/>
          </a:p>
        </p:txBody>
      </p:sp>
      <p:sp>
        <p:nvSpPr>
          <p:cNvPr id="16" name="Shape 13"/>
          <p:cNvSpPr/>
          <p:nvPr/>
        </p:nvSpPr>
        <p:spPr>
          <a:xfrm>
            <a:off x="1033272" y="4096512"/>
            <a:ext cx="109728" cy="109728"/>
          </a:xfrm>
          <a:prstGeom prst="ellipse">
            <a:avLst/>
          </a:prstGeom>
          <a:solidFill>
            <a:srgbClr val="B35AAE"/>
          </a:solidFill>
          <a:ln w="12700">
            <a:solidFill>
              <a:srgbClr val="B35AA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43584" y="404164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D9B7E6"/>
                </a:solidFill>
              </a:rPr>
              <a:t>Contracts are transparent and visible onchain</a:t>
            </a:r>
            <a:endParaRPr lang="en-US" sz="1210" dirty="0"/>
          </a:p>
        </p:txBody>
      </p:sp>
      <p:sp>
        <p:nvSpPr>
          <p:cNvPr id="18" name="Shape 15"/>
          <p:cNvSpPr/>
          <p:nvPr/>
        </p:nvSpPr>
        <p:spPr>
          <a:xfrm>
            <a:off x="7360920" y="4425696"/>
            <a:ext cx="3520440" cy="731520"/>
          </a:xfrm>
          <a:prstGeom prst="roundRect">
            <a:avLst>
              <a:gd name="adj" fmla="val 18750"/>
            </a:avLst>
          </a:prstGeom>
          <a:solidFill>
            <a:srgbClr val="4C174B"/>
          </a:solidFill>
          <a:ln w="12700">
            <a:solidFill>
              <a:srgbClr val="B35AAE">
                <a:alpha val="6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0" y="46360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</a:rPr>
              <a:t>The missing ingredient is not infrastructure — it is awareness and activity.</a:t>
            </a:r>
            <a:endParaRPr lang="en-US" sz="1240" dirty="0"/>
          </a:p>
        </p:txBody>
      </p:sp>
      <p:sp>
        <p:nvSpPr>
          <p:cNvPr id="20" name="Text 17"/>
          <p:cNvSpPr/>
          <p:nvPr/>
        </p:nvSpPr>
        <p:spPr>
          <a:xfrm>
            <a:off x="594360" y="65379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47DA4"/>
                </a:solidFill>
              </a:rPr>
              <a:t>Bankroll Vault (VLT) • Ethereum • Investor discussion — not financial advice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47DA4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51217">
              <a:alpha val="98000"/>
            </a:srgbClr>
          </a:solidFill>
          <a:ln w="12700">
            <a:solidFill>
              <a:srgbClr val="15121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bankroll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 $1,000 position could look like at larger market caps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29844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9B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Hypothetical scenario only. This is not a prediction or guarantee.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1728216"/>
            <a:ext cx="8183880" cy="4041648"/>
          </a:xfrm>
          <a:prstGeom prst="roundRect">
            <a:avLst>
              <a:gd name="adj" fmla="val 2262"/>
            </a:avLst>
          </a:prstGeom>
          <a:solidFill>
            <a:srgbClr val="251127"/>
          </a:solidFill>
          <a:ln w="12700">
            <a:solidFill>
              <a:srgbClr val="8A3A87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8745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C7A4C7"/>
                </a:solidFill>
              </a:rPr>
              <a:t>Market cap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2852928" y="18745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C7A4C7"/>
                </a:solidFill>
              </a:rPr>
              <a:t>Implied VLT price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047488" y="18745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C7A4C7"/>
                </a:solidFill>
              </a:rPr>
              <a:t>Multiple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6556248" y="18745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C7A4C7"/>
                </a:solidFill>
              </a:rPr>
              <a:t>$1,000 value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8096" y="2212848"/>
            <a:ext cx="7955280" cy="329184"/>
          </a:xfrm>
          <a:prstGeom prst="rect">
            <a:avLst/>
          </a:prstGeom>
          <a:solidFill>
            <a:srgbClr val="321533">
              <a:alpha val="85000"/>
            </a:srgbClr>
          </a:solidFill>
          <a:ln w="12700">
            <a:solidFill>
              <a:srgbClr val="3215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25856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D9B7E6"/>
                </a:solidFill>
              </a:rPr>
              <a:t>$397.6K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2852928" y="22585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$0.22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5047488" y="22585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1.0x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6556248" y="22585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$1,000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886968" y="265176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D9B7E6"/>
                </a:solidFill>
              </a:rPr>
              <a:t>$1M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2852928" y="26517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$0.56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5047488" y="265176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2.5x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6556248" y="26517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$2,515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768096" y="2999232"/>
            <a:ext cx="7955280" cy="329184"/>
          </a:xfrm>
          <a:prstGeom prst="rect">
            <a:avLst/>
          </a:prstGeom>
          <a:solidFill>
            <a:srgbClr val="321533">
              <a:alpha val="85000"/>
            </a:srgbClr>
          </a:solidFill>
          <a:ln w="12700">
            <a:solidFill>
              <a:srgbClr val="3215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30449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D9B7E6"/>
                </a:solidFill>
              </a:rPr>
              <a:t>$5M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2852928" y="3044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$2.78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5047488" y="304495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12.6x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6556248" y="30449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$12,575</a:t>
            </a:r>
            <a:endParaRPr lang="en-US" sz="1070" dirty="0"/>
          </a:p>
        </p:txBody>
      </p:sp>
      <p:sp>
        <p:nvSpPr>
          <p:cNvPr id="26" name="Text 24"/>
          <p:cNvSpPr/>
          <p:nvPr/>
        </p:nvSpPr>
        <p:spPr>
          <a:xfrm>
            <a:off x="886968" y="343814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D9B7E6"/>
                </a:solidFill>
              </a:rPr>
              <a:t>$10M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2852928" y="34381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$5.56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5047488" y="343814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25.1x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6556248" y="343814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$25,149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768096" y="3785616"/>
            <a:ext cx="7955280" cy="329184"/>
          </a:xfrm>
          <a:prstGeom prst="rect">
            <a:avLst/>
          </a:prstGeom>
          <a:solidFill>
            <a:srgbClr val="321533">
              <a:alpha val="85000"/>
            </a:srgbClr>
          </a:solidFill>
          <a:ln w="12700">
            <a:solidFill>
              <a:srgbClr val="3215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" y="383133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D9B7E6"/>
                </a:solidFill>
              </a:rPr>
              <a:t>$50M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2852928" y="383133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$27.78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5047488" y="383133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125.7x</a:t>
            </a:r>
            <a:endParaRPr lang="en-US" sz="1070" dirty="0"/>
          </a:p>
        </p:txBody>
      </p:sp>
      <p:sp>
        <p:nvSpPr>
          <p:cNvPr id="34" name="Text 32"/>
          <p:cNvSpPr/>
          <p:nvPr/>
        </p:nvSpPr>
        <p:spPr>
          <a:xfrm>
            <a:off x="6556248" y="38313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$125,746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886968" y="422452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D9B7E6"/>
                </a:solidFill>
              </a:rPr>
              <a:t>$100M</a:t>
            </a:r>
            <a:endParaRPr lang="en-US" sz="1070" dirty="0"/>
          </a:p>
        </p:txBody>
      </p:sp>
      <p:sp>
        <p:nvSpPr>
          <p:cNvPr id="36" name="Text 34"/>
          <p:cNvSpPr/>
          <p:nvPr/>
        </p:nvSpPr>
        <p:spPr>
          <a:xfrm>
            <a:off x="2852928" y="42245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$55.56</a:t>
            </a:r>
            <a:endParaRPr lang="en-US" sz="1070" dirty="0"/>
          </a:p>
        </p:txBody>
      </p:sp>
      <p:sp>
        <p:nvSpPr>
          <p:cNvPr id="37" name="Text 35"/>
          <p:cNvSpPr/>
          <p:nvPr/>
        </p:nvSpPr>
        <p:spPr>
          <a:xfrm>
            <a:off x="5047488" y="42245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251.5x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6556248" y="422452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$251,492</a:t>
            </a:r>
            <a:endParaRPr lang="en-US" sz="1070" dirty="0"/>
          </a:p>
        </p:txBody>
      </p:sp>
      <p:sp>
        <p:nvSpPr>
          <p:cNvPr id="39" name="Shape 37"/>
          <p:cNvSpPr/>
          <p:nvPr/>
        </p:nvSpPr>
        <p:spPr>
          <a:xfrm>
            <a:off x="768096" y="4572000"/>
            <a:ext cx="7955280" cy="329184"/>
          </a:xfrm>
          <a:prstGeom prst="rect">
            <a:avLst/>
          </a:prstGeom>
          <a:solidFill>
            <a:srgbClr val="321533">
              <a:alpha val="85000"/>
            </a:srgbClr>
          </a:solidFill>
          <a:ln w="12700">
            <a:solidFill>
              <a:srgbClr val="32153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6968" y="461772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D9B7E6"/>
                </a:solidFill>
              </a:rPr>
              <a:t>$500M</a:t>
            </a:r>
            <a:endParaRPr lang="en-US" sz="1070" dirty="0"/>
          </a:p>
        </p:txBody>
      </p:sp>
      <p:sp>
        <p:nvSpPr>
          <p:cNvPr id="41" name="Text 39"/>
          <p:cNvSpPr/>
          <p:nvPr/>
        </p:nvSpPr>
        <p:spPr>
          <a:xfrm>
            <a:off x="2852928" y="46177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$277.78</a:t>
            </a:r>
            <a:endParaRPr lang="en-US" sz="1070" dirty="0"/>
          </a:p>
        </p:txBody>
      </p:sp>
      <p:sp>
        <p:nvSpPr>
          <p:cNvPr id="42" name="Text 40"/>
          <p:cNvSpPr/>
          <p:nvPr/>
        </p:nvSpPr>
        <p:spPr>
          <a:xfrm>
            <a:off x="5047488" y="46177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1,257x</a:t>
            </a:r>
            <a:endParaRPr lang="en-US" sz="1070" dirty="0"/>
          </a:p>
        </p:txBody>
      </p:sp>
      <p:sp>
        <p:nvSpPr>
          <p:cNvPr id="43" name="Text 41"/>
          <p:cNvSpPr/>
          <p:nvPr/>
        </p:nvSpPr>
        <p:spPr>
          <a:xfrm>
            <a:off x="6556248" y="461772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$1,257,460</a:t>
            </a:r>
            <a:endParaRPr lang="en-US" sz="1070" dirty="0"/>
          </a:p>
        </p:txBody>
      </p:sp>
      <p:sp>
        <p:nvSpPr>
          <p:cNvPr id="44" name="Text 42"/>
          <p:cNvSpPr/>
          <p:nvPr/>
        </p:nvSpPr>
        <p:spPr>
          <a:xfrm>
            <a:off x="886968" y="50109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D9B7E6"/>
                </a:solidFill>
              </a:rPr>
              <a:t>$1B</a:t>
            </a:r>
            <a:endParaRPr lang="en-US" sz="1070" dirty="0"/>
          </a:p>
        </p:txBody>
      </p:sp>
      <p:sp>
        <p:nvSpPr>
          <p:cNvPr id="45" name="Text 43"/>
          <p:cNvSpPr/>
          <p:nvPr/>
        </p:nvSpPr>
        <p:spPr>
          <a:xfrm>
            <a:off x="2852928" y="50109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$555.56</a:t>
            </a:r>
            <a:endParaRPr lang="en-US" sz="1070" dirty="0"/>
          </a:p>
        </p:txBody>
      </p:sp>
      <p:sp>
        <p:nvSpPr>
          <p:cNvPr id="46" name="Text 44"/>
          <p:cNvSpPr/>
          <p:nvPr/>
        </p:nvSpPr>
        <p:spPr>
          <a:xfrm>
            <a:off x="5047488" y="50109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2,515x</a:t>
            </a:r>
            <a:endParaRPr lang="en-US" sz="1070" dirty="0"/>
          </a:p>
        </p:txBody>
      </p:sp>
      <p:sp>
        <p:nvSpPr>
          <p:cNvPr id="47" name="Text 45"/>
          <p:cNvSpPr/>
          <p:nvPr/>
        </p:nvSpPr>
        <p:spPr>
          <a:xfrm>
            <a:off x="6556248" y="501091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$2,514,920</a:t>
            </a:r>
            <a:endParaRPr lang="en-US" sz="1070" dirty="0"/>
          </a:p>
        </p:txBody>
      </p:sp>
      <p:sp>
        <p:nvSpPr>
          <p:cNvPr id="48" name="Shape 46"/>
          <p:cNvSpPr/>
          <p:nvPr/>
        </p:nvSpPr>
        <p:spPr>
          <a:xfrm>
            <a:off x="768096" y="5358384"/>
            <a:ext cx="7955280" cy="329184"/>
          </a:xfrm>
          <a:prstGeom prst="rect">
            <a:avLst/>
          </a:prstGeom>
          <a:solidFill>
            <a:srgbClr val="321533">
              <a:alpha val="85000"/>
            </a:srgbClr>
          </a:solidFill>
          <a:ln w="12700">
            <a:solidFill>
              <a:srgbClr val="321533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6968" y="540410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D9B7E6"/>
                </a:solidFill>
              </a:rPr>
              <a:t>$4B</a:t>
            </a:r>
            <a:endParaRPr lang="en-US" sz="1070" dirty="0"/>
          </a:p>
        </p:txBody>
      </p:sp>
      <p:sp>
        <p:nvSpPr>
          <p:cNvPr id="50" name="Text 48"/>
          <p:cNvSpPr/>
          <p:nvPr/>
        </p:nvSpPr>
        <p:spPr>
          <a:xfrm>
            <a:off x="2852928" y="5404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$2,222.22</a:t>
            </a:r>
            <a:endParaRPr lang="en-US" sz="1070" dirty="0"/>
          </a:p>
        </p:txBody>
      </p:sp>
      <p:sp>
        <p:nvSpPr>
          <p:cNvPr id="51" name="Text 49"/>
          <p:cNvSpPr/>
          <p:nvPr/>
        </p:nvSpPr>
        <p:spPr>
          <a:xfrm>
            <a:off x="5047488" y="54041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9B7E6"/>
                </a:solidFill>
              </a:rPr>
              <a:t>10,060x</a:t>
            </a:r>
            <a:endParaRPr lang="en-US" sz="1070" dirty="0"/>
          </a:p>
        </p:txBody>
      </p:sp>
      <p:sp>
        <p:nvSpPr>
          <p:cNvPr id="52" name="Text 50"/>
          <p:cNvSpPr/>
          <p:nvPr/>
        </p:nvSpPr>
        <p:spPr>
          <a:xfrm>
            <a:off x="6556248" y="540410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$10,059,679</a:t>
            </a:r>
            <a:endParaRPr lang="en-US" sz="1070" dirty="0"/>
          </a:p>
        </p:txBody>
      </p:sp>
      <p:sp>
        <p:nvSpPr>
          <p:cNvPr id="53" name="Shape 51"/>
          <p:cNvSpPr/>
          <p:nvPr/>
        </p:nvSpPr>
        <p:spPr>
          <a:xfrm>
            <a:off x="9098280" y="2240280"/>
            <a:ext cx="2468880" cy="2468880"/>
          </a:xfrm>
          <a:prstGeom prst="roundRect">
            <a:avLst>
              <a:gd name="adj" fmla="val 5556"/>
            </a:avLst>
          </a:prstGeom>
          <a:solidFill>
            <a:srgbClr val="4F174D"/>
          </a:solidFill>
          <a:ln w="12700">
            <a:solidFill>
              <a:srgbClr val="B35AAE">
                <a:alpha val="8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326880" y="2505456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Assumptions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9326880" y="2980944"/>
            <a:ext cx="1993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D9B7E6"/>
                </a:solidFill>
              </a:rPr>
              <a:t>• Uses current market cap of $397,627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D9B7E6"/>
                </a:solidFill>
              </a:rPr>
              <a:t>• Assumes 1.8M VLT supply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D9B7E6"/>
                </a:solidFill>
              </a:rPr>
              <a:t>• Excludes fees, taxes, slippage and liquidity limitations</a:t>
            </a:r>
            <a:endParaRPr lang="en-US" sz="960" dirty="0"/>
          </a:p>
        </p:txBody>
      </p:sp>
      <p:sp>
        <p:nvSpPr>
          <p:cNvPr id="56" name="Text 54"/>
          <p:cNvSpPr/>
          <p:nvPr/>
        </p:nvSpPr>
        <p:spPr>
          <a:xfrm>
            <a:off x="9345168" y="4233672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8A0D4"/>
                </a:solidFill>
              </a:rPr>
              <a:t>This slide shows math — not a promise.</a:t>
            </a:r>
            <a:endParaRPr lang="en-US" sz="880" dirty="0"/>
          </a:p>
        </p:txBody>
      </p:sp>
      <p:sp>
        <p:nvSpPr>
          <p:cNvPr id="57" name="Text 55"/>
          <p:cNvSpPr/>
          <p:nvPr/>
        </p:nvSpPr>
        <p:spPr>
          <a:xfrm>
            <a:off x="694944" y="59893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E7E9E"/>
                </a:solidFill>
              </a:rPr>
              <a:t>Source for current price/market cap: CoinGecko, accessed May 11, 2026.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594360" y="65379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47DA4"/>
                </a:solidFill>
              </a:rPr>
              <a:t>Bankroll Vault (VLT) • Ethereum • Investor discussion — not financial advice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47DA4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D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51217">
              <a:alpha val="98000"/>
            </a:srgbClr>
          </a:solidFill>
          <a:ln w="12700">
            <a:solidFill>
              <a:srgbClr val="15121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bankroll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7498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liquidity growth flywheel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29844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9B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plan is not to force hype. The plan is to make the structure visible and drive organic activity.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786055" y="1896451"/>
            <a:ext cx="2468880" cy="877824"/>
          </a:xfrm>
          <a:prstGeom prst="roundRect">
            <a:avLst>
              <a:gd name="adj" fmla="val 14583"/>
            </a:avLst>
          </a:prstGeom>
          <a:solidFill>
            <a:srgbClr val="2C142D"/>
          </a:solidFill>
          <a:ln w="12700">
            <a:solidFill>
              <a:srgbClr val="8A3A87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8935" y="2061043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</a:rPr>
              <a:t>Narrative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6968935" y="2353651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D9B7E6"/>
                </a:solidFill>
              </a:rPr>
              <a:t>Simple message: fixed supply + existing liquidity + accumulation.</a:t>
            </a:r>
            <a:endParaRPr lang="en-US" sz="790" dirty="0"/>
          </a:p>
        </p:txBody>
      </p:sp>
      <p:sp>
        <p:nvSpPr>
          <p:cNvPr id="10" name="Shape 8"/>
          <p:cNvSpPr/>
          <p:nvPr/>
        </p:nvSpPr>
        <p:spPr>
          <a:xfrm>
            <a:off x="6786055" y="3900845"/>
            <a:ext cx="2468880" cy="877824"/>
          </a:xfrm>
          <a:prstGeom prst="roundRect">
            <a:avLst>
              <a:gd name="adj" fmla="val 14583"/>
            </a:avLst>
          </a:prstGeom>
          <a:solidFill>
            <a:srgbClr val="2C142D"/>
          </a:solidFill>
          <a:ln w="12700">
            <a:solidFill>
              <a:srgbClr val="8A3A87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68935" y="4065437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</a:rPr>
              <a:t>Visibility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6968935" y="4358045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D9B7E6"/>
                </a:solidFill>
              </a:rPr>
              <a:t>Show onchain activity, liquidity, and ecosystem accumulation.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2906585" y="3900845"/>
            <a:ext cx="2468880" cy="877824"/>
          </a:xfrm>
          <a:prstGeom prst="roundRect">
            <a:avLst>
              <a:gd name="adj" fmla="val 14583"/>
            </a:avLst>
          </a:prstGeom>
          <a:solidFill>
            <a:srgbClr val="2C142D"/>
          </a:solidFill>
          <a:ln w="12700">
            <a:solidFill>
              <a:srgbClr val="8A3A87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9465" y="4065437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</a:rPr>
              <a:t>Activity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3089465" y="4358045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D9B7E6"/>
                </a:solidFill>
              </a:rPr>
              <a:t>Bring consistent small buys, swaps, and new holders.</a:t>
            </a:r>
            <a:endParaRPr lang="en-US" sz="790" dirty="0"/>
          </a:p>
        </p:txBody>
      </p:sp>
      <p:sp>
        <p:nvSpPr>
          <p:cNvPr id="16" name="Shape 14"/>
          <p:cNvSpPr/>
          <p:nvPr/>
        </p:nvSpPr>
        <p:spPr>
          <a:xfrm>
            <a:off x="2906585" y="1896451"/>
            <a:ext cx="2468880" cy="877824"/>
          </a:xfrm>
          <a:prstGeom prst="roundRect">
            <a:avLst>
              <a:gd name="adj" fmla="val 14583"/>
            </a:avLst>
          </a:prstGeom>
          <a:solidFill>
            <a:srgbClr val="2C142D"/>
          </a:solidFill>
          <a:ln w="12700">
            <a:solidFill>
              <a:srgbClr val="8A3A87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89465" y="2061043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</a:rPr>
              <a:t>Confidence</a:t>
            </a:r>
            <a:endParaRPr lang="en-US" sz="1480" dirty="0"/>
          </a:p>
        </p:txBody>
      </p:sp>
      <p:sp>
        <p:nvSpPr>
          <p:cNvPr id="18" name="Text 16"/>
          <p:cNvSpPr/>
          <p:nvPr/>
        </p:nvSpPr>
        <p:spPr>
          <a:xfrm>
            <a:off x="3089465" y="2353651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D9B7E6"/>
                </a:solidFill>
              </a:rPr>
              <a:t>As liquidity and holders grow, the market becomes easier to trust.</a:t>
            </a:r>
            <a:endParaRPr lang="en-US" sz="790" dirty="0"/>
          </a:p>
        </p:txBody>
      </p:sp>
      <p:pic>
        <p:nvPicPr>
          <p:cNvPr id="19" name="Image 0" descr="/mnt/data/c0d65bb6-deeb-4638-83e5-25df0916fe22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5550408" y="2779776"/>
            <a:ext cx="1051560" cy="105156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13232" y="5440680"/>
            <a:ext cx="10789920" cy="512064"/>
          </a:xfrm>
          <a:prstGeom prst="roundRect">
            <a:avLst>
              <a:gd name="adj" fmla="val 21429"/>
            </a:avLst>
          </a:prstGeom>
          <a:solidFill>
            <a:srgbClr val="4F174D"/>
          </a:solidFill>
          <a:ln w="12700">
            <a:solidFill>
              <a:srgbClr val="B35AAE">
                <a:alpha val="6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41832" y="5614416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</a:rPr>
              <a:t>Goal: turn an under-discovered structure into a visible, active, trusted market.</a:t>
            </a:r>
            <a:endParaRPr lang="en-US" sz="1340" dirty="0"/>
          </a:p>
        </p:txBody>
      </p:sp>
      <p:sp>
        <p:nvSpPr>
          <p:cNvPr id="22" name="Text 19"/>
          <p:cNvSpPr/>
          <p:nvPr/>
        </p:nvSpPr>
        <p:spPr>
          <a:xfrm>
            <a:off x="594360" y="65379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47DA4"/>
                </a:solidFill>
              </a:rPr>
              <a:t>Bankroll Vault (VLT) • Ethereum • Investor discussion — not financial advice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47DA4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0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51217">
              <a:alpha val="98000"/>
            </a:srgbClr>
          </a:solidFill>
          <a:ln w="12700">
            <a:solidFill>
              <a:srgbClr val="15121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64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bankroll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789920" y="164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7A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3232" y="932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thesis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4447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B7E6"/>
                </a:solidFill>
              </a:rPr>
              <a:t>VLT combines three things most small-cap tokens do not have at the same time.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671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5AAE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2148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Real liquidity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49631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D9B7E6"/>
                </a:solidFill>
              </a:rPr>
              <a:t>Hundreds of thousands already established in the market.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822960" y="3218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5AAE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3200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Fixed supply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5478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D9B7E6"/>
                </a:solidFill>
              </a:rPr>
              <a:t>No new VLT can be printed to dilute holders.</a:t>
            </a:r>
            <a:endParaRPr lang="en-US" sz="1160" dirty="0"/>
          </a:p>
        </p:txBody>
      </p:sp>
      <p:sp>
        <p:nvSpPr>
          <p:cNvPr id="13" name="Text 11"/>
          <p:cNvSpPr/>
          <p:nvPr/>
        </p:nvSpPr>
        <p:spPr>
          <a:xfrm>
            <a:off x="822960" y="42702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35AAE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4251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Ongoing accumulation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59943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D9B7E6"/>
                </a:solidFill>
              </a:rPr>
              <a:t>Ecosystem contracts buy and hold VLT.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7452360" y="1417320"/>
            <a:ext cx="3566160" cy="3566160"/>
          </a:xfrm>
          <a:prstGeom prst="roundRect">
            <a:avLst>
              <a:gd name="adj" fmla="val 4615"/>
            </a:avLst>
          </a:prstGeom>
          <a:solidFill>
            <a:srgbClr val="4E184C"/>
          </a:solidFill>
          <a:ln w="13970">
            <a:solidFill>
              <a:srgbClr val="B35AAE">
                <a:alpha val="82000"/>
              </a:srgbClr>
            </a:solidFill>
            <a:prstDash val="solid"/>
          </a:ln>
        </p:spPr>
      </p:sp>
      <p:pic>
        <p:nvPicPr>
          <p:cNvPr id="17" name="Image 0" descr="/mnt/data/c0d65bb6-deeb-4638-83e5-25df0916f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888" y="1828800"/>
            <a:ext cx="2011680" cy="20116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808976" y="40507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Structure is live.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Awareness is early.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68096" y="57607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9BBB"/>
                </a:solidFill>
              </a:rPr>
              <a:t>Discussion: position sizing, risk tolerance, and long-term participation.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4360" y="65379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47DA4"/>
                </a:solidFill>
              </a:rPr>
              <a:t>Bankroll Vault (VLT) • Ethereum • Investor discussion — not financial advice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47DA4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Kellogg Holdings / Bankroll Vault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Bankroll Vault (VLT) Investor Deck</dc:title>
  <dc:subject>Bankroll Vault investor presentation</dc:subject>
  <dc:creator>OpenAI</dc:creator>
  <cp:lastModifiedBy>OpenAI</cp:lastModifiedBy>
  <cp:revision>1</cp:revision>
  <dcterms:created xsi:type="dcterms:W3CDTF">2026-05-11T23:09:25Z</dcterms:created>
  <dcterms:modified xsi:type="dcterms:W3CDTF">2026-05-11T23:09:25Z</dcterms:modified>
</cp:coreProperties>
</file>